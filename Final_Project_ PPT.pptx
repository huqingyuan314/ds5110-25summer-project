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embeddedFontLst>
    <p:embeddedFont>
      <p:font typeface="Lato" panose="020F0502020204030203" pitchFamily="34" charset="0"/>
      <p:regular r:id="rId20"/>
      <p:bold r:id="rId21"/>
      <p:italic r:id="rId22"/>
      <p:boldItalic r:id="rId23"/>
    </p:embeddedFont>
    <p:embeddedFont>
      <p:font typeface="Raleway" pitchFamily="2" charset="77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00"/>
  </p:normalViewPr>
  <p:slideViewPr>
    <p:cSldViewPr snapToGrid="0">
      <p:cViewPr varScale="1">
        <p:scale>
          <a:sx n="151" d="100"/>
          <a:sy n="151" d="100"/>
        </p:scale>
        <p:origin x="616" y="184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font" Target="fonts/font8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4" name="Google Shape;8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g344ae19f78f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" name="Google Shape;91;g344ae19f78f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36383930737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36383930737_0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g36383930737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3" name="Google Shape;103;g36383930737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6383930737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9" name="Google Shape;109;g36383930737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72aaa810a0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5" name="Google Shape;115;g372aaa810a0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g36383930737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1" name="Google Shape;121;g36383930737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45101c2ffb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45101c2ffb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45101c2ffb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1" name="Google Shape;141;g345101c2ffb_0_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7284b7911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7284b7911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45101c2ffb_0_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5" name="Google Shape;155;g345101c2ffb_0_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37284b79113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37284b79113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36383930737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36383930737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45101c2ffb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45101c2ffb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45101c2ffb_0_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45101c2ffb_0_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45101c2ffb_0_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45101c2ffb_0_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44c25ace76_1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6" name="Google Shape;196;g344c25ace76_1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2" name="Google Shape;12;p2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166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729627" y="3172900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oogle Shape;18;p3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19" name="Google Shape;19;p3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0;p3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1" name="Google Shape;21;p3"/>
          <p:cNvSpPr txBox="1">
            <a:spLocks noGrp="1"/>
          </p:cNvSpPr>
          <p:nvPr>
            <p:ph type="title"/>
          </p:nvPr>
        </p:nvSpPr>
        <p:spPr>
          <a:xfrm>
            <a:off x="729450" y="1322450"/>
            <a:ext cx="7688400" cy="151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5" name="Google Shape;25;p4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26" name="Google Shape;26;p4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7;p4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" name="Google Shape;28;p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6887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3" name="Google Shape;33;p5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34" name="Google Shape;34;p5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" name="Google Shape;35;p5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6" name="Google Shape;36;p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body" idx="1"/>
          </p:nvPr>
        </p:nvSpPr>
        <p:spPr>
          <a:xfrm>
            <a:off x="729325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body" idx="2"/>
          </p:nvPr>
        </p:nvSpPr>
        <p:spPr>
          <a:xfrm>
            <a:off x="4643604" y="2078875"/>
            <a:ext cx="3774300" cy="226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39" name="Google Shape;39;p5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2" name="Google Shape;42;p6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43" name="Google Shape;43;p6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4" name="Google Shape;44;p6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5" name="Google Shape;45;p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400" cy="53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46" name="Google Shape;46;p6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/>
          <p:nvPr/>
        </p:nvSpPr>
        <p:spPr>
          <a:xfrm>
            <a:off x="0" y="0"/>
            <a:ext cx="9144000" cy="48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9" name="Google Shape;49;p7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50" name="Google Shape;50;p7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" name="Google Shape;51;p7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2" name="Google Shape;52;p7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381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body" idx="1"/>
          </p:nvPr>
        </p:nvSpPr>
        <p:spPr>
          <a:xfrm>
            <a:off x="721225" y="2781725"/>
            <a:ext cx="3300900" cy="159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3"/>
        </a:solidFill>
        <a:effectLst/>
      </p:bgPr>
    </p:bg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56;p8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57" name="Google Shape;57;p8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" name="Google Shape;58;p8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9" name="Google Shape;59;p8"/>
          <p:cNvSpPr txBox="1">
            <a:spLocks noGrp="1"/>
          </p:cNvSpPr>
          <p:nvPr>
            <p:ph type="title"/>
          </p:nvPr>
        </p:nvSpPr>
        <p:spPr>
          <a:xfrm>
            <a:off x="729450" y="864300"/>
            <a:ext cx="7021200" cy="298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0" name="Google Shape;60;p8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9"/>
          <p:cNvSpPr/>
          <p:nvPr/>
        </p:nvSpPr>
        <p:spPr>
          <a:xfrm>
            <a:off x="0" y="0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63" name="Google Shape;63;p9"/>
          <p:cNvGrpSpPr/>
          <p:nvPr/>
        </p:nvGrpSpPr>
        <p:grpSpPr>
          <a:xfrm>
            <a:off x="830392" y="1191256"/>
            <a:ext cx="745763" cy="45826"/>
            <a:chOff x="4580561" y="2589004"/>
            <a:chExt cx="1064464" cy="25200"/>
          </a:xfrm>
        </p:grpSpPr>
        <p:sp>
          <p:nvSpPr>
            <p:cNvPr id="64" name="Google Shape;64;p9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5" name="Google Shape;65;p9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6" name="Google Shape;66;p9"/>
          <p:cNvSpPr txBox="1">
            <a:spLocks noGrp="1"/>
          </p:cNvSpPr>
          <p:nvPr>
            <p:ph type="title"/>
          </p:nvPr>
        </p:nvSpPr>
        <p:spPr>
          <a:xfrm>
            <a:off x="730000" y="1318650"/>
            <a:ext cx="3300900" cy="168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1pPr>
            <a:lvl2pPr lvl="1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2pPr>
            <a:lvl3pPr lvl="2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3pPr>
            <a:lvl4pPr lvl="3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4pPr>
            <a:lvl5pPr lvl="4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5pPr>
            <a:lvl6pPr lvl="5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6pPr>
            <a:lvl7pPr lvl="6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7pPr>
            <a:lvl8pPr lvl="7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8pPr>
            <a:lvl9pPr lvl="8">
              <a:spcBef>
                <a:spcPts val="0"/>
              </a:spcBef>
              <a:spcAft>
                <a:spcPts val="0"/>
              </a:spcAft>
              <a:buSzPts val="2600"/>
              <a:buNone/>
              <a:defRPr sz="2600"/>
            </a:lvl9pPr>
          </a:lstStyle>
          <a:p>
            <a:endParaRPr/>
          </a:p>
        </p:txBody>
      </p:sp>
      <p:sp>
        <p:nvSpPr>
          <p:cNvPr id="67" name="Google Shape;67;p9"/>
          <p:cNvSpPr txBox="1">
            <a:spLocks noGrp="1"/>
          </p:cNvSpPr>
          <p:nvPr>
            <p:ph type="subTitle" idx="1"/>
          </p:nvPr>
        </p:nvSpPr>
        <p:spPr>
          <a:xfrm>
            <a:off x="724950" y="3161525"/>
            <a:ext cx="3300900" cy="759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68" name="Google Shape;68;p9"/>
          <p:cNvSpPr txBox="1">
            <a:spLocks noGrp="1"/>
          </p:cNvSpPr>
          <p:nvPr>
            <p:ph type="body" idx="2"/>
          </p:nvPr>
        </p:nvSpPr>
        <p:spPr>
          <a:xfrm>
            <a:off x="5174225" y="1352625"/>
            <a:ext cx="3374400" cy="302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>
            <a:endParaRPr/>
          </a:p>
        </p:txBody>
      </p:sp>
      <p:sp>
        <p:nvSpPr>
          <p:cNvPr id="69" name="Google Shape;69;p9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>
            <a:spLocks noGrp="1"/>
          </p:cNvSpPr>
          <p:nvPr>
            <p:ph type="body" idx="1"/>
          </p:nvPr>
        </p:nvSpPr>
        <p:spPr>
          <a:xfrm>
            <a:off x="724950" y="4372551"/>
            <a:ext cx="7697400" cy="460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>
            <a:endParaRPr/>
          </a:p>
        </p:txBody>
      </p:sp>
      <p:sp>
        <p:nvSpPr>
          <p:cNvPr id="72" name="Google Shape;72;p10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Google Shape;74;p11"/>
          <p:cNvGrpSpPr/>
          <p:nvPr/>
        </p:nvGrpSpPr>
        <p:grpSpPr>
          <a:xfrm>
            <a:off x="830392" y="4169130"/>
            <a:ext cx="745763" cy="45826"/>
            <a:chOff x="4580561" y="2589004"/>
            <a:chExt cx="1064464" cy="25200"/>
          </a:xfrm>
        </p:grpSpPr>
        <p:sp>
          <p:nvSpPr>
            <p:cNvPr id="75" name="Google Shape;75;p11"/>
            <p:cNvSpPr/>
            <p:nvPr/>
          </p:nvSpPr>
          <p:spPr>
            <a:xfrm rot="-5400000">
              <a:off x="5366325" y="2335504"/>
              <a:ext cx="25200" cy="5322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6" name="Google Shape;76;p11"/>
            <p:cNvSpPr/>
            <p:nvPr/>
          </p:nvSpPr>
          <p:spPr>
            <a:xfrm rot="-5400000">
              <a:off x="4836311" y="2333254"/>
              <a:ext cx="25200" cy="5367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77" name="Google Shape;77;p11"/>
          <p:cNvSpPr txBox="1">
            <a:spLocks noGrp="1"/>
          </p:cNvSpPr>
          <p:nvPr>
            <p:ph type="title" hasCustomPrompt="1"/>
          </p:nvPr>
        </p:nvSpPr>
        <p:spPr>
          <a:xfrm>
            <a:off x="729450" y="733950"/>
            <a:ext cx="7688400" cy="1244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78" name="Google Shape;78;p11"/>
          <p:cNvSpPr txBox="1">
            <a:spLocks noGrp="1"/>
          </p:cNvSpPr>
          <p:nvPr>
            <p:ph type="body" idx="1"/>
          </p:nvPr>
        </p:nvSpPr>
        <p:spPr>
          <a:xfrm>
            <a:off x="729450" y="2272888"/>
            <a:ext cx="7688400" cy="158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79" name="Google Shape;79;p1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2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treamlin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Raleway"/>
              <a:buNone/>
              <a:defRPr sz="2800" b="1">
                <a:solidFill>
                  <a:schemeClr val="dk2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11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300"/>
              <a:buFont typeface="Lato"/>
              <a:buChar char="●"/>
              <a:defRPr sz="13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●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○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29845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Lato"/>
              <a:buChar char="■"/>
              <a:defRPr sz="11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536302" y="474985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2pPr>
            <a:lvl3pPr lvl="2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3pPr>
            <a:lvl4pPr lvl="3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4pPr>
            <a:lvl5pPr lvl="4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5pPr>
            <a:lvl6pPr lvl="5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6pPr>
            <a:lvl7pPr lvl="6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7pPr>
            <a:lvl8pPr lvl="7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8pPr>
            <a:lvl9pPr lvl="8" algn="r">
              <a:buNone/>
              <a:defRPr sz="1000">
                <a:solidFill>
                  <a:schemeClr val="accent1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3"/>
          <p:cNvSpPr txBox="1">
            <a:spLocks noGrp="1"/>
          </p:cNvSpPr>
          <p:nvPr>
            <p:ph type="ctrTitle"/>
          </p:nvPr>
        </p:nvSpPr>
        <p:spPr>
          <a:xfrm>
            <a:off x="729450" y="1322450"/>
            <a:ext cx="7688100" cy="260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4000" b="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Data Visualization Dashboard for Manufacturing Plant and Industrial Safety</a:t>
            </a:r>
            <a:endParaRPr sz="4000"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7" name="Google Shape;87;p13"/>
          <p:cNvSpPr txBox="1">
            <a:spLocks noGrp="1"/>
          </p:cNvSpPr>
          <p:nvPr>
            <p:ph type="subTitle" idx="1"/>
          </p:nvPr>
        </p:nvSpPr>
        <p:spPr>
          <a:xfrm>
            <a:off x="729627" y="4222375"/>
            <a:ext cx="7688100" cy="54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000">
                <a:latin typeface="Calibri"/>
                <a:ea typeface="Calibri"/>
                <a:cs typeface="Calibri"/>
                <a:sym typeface="Calibri"/>
              </a:rPr>
              <a:t>Qingyuan Hu, Yunmu Shu</a:t>
            </a:r>
            <a:endParaRPr sz="20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13"/>
          <p:cNvSpPr txBox="1"/>
          <p:nvPr/>
        </p:nvSpPr>
        <p:spPr>
          <a:xfrm>
            <a:off x="729450" y="3606775"/>
            <a:ext cx="80946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>
                <a:latin typeface="Calibri"/>
                <a:ea typeface="Calibri"/>
                <a:cs typeface="Calibri"/>
                <a:sym typeface="Calibri"/>
              </a:rPr>
              <a:t>DS 5110 Summer 2025</a:t>
            </a:r>
            <a:endParaRPr sz="28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4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14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975800" cy="27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Develop a dashboard for monitoring industrial accident trends.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Visualize patterns in accident frequency, causes, and severity.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Enable interactive data exploration by time and category.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688"/>
              <a:buNone/>
            </a:pPr>
            <a:endParaRPr sz="20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688"/>
              <a:buNone/>
            </a:pPr>
            <a:endParaRPr sz="2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endParaRPr sz="2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5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Problem &amp; Motivation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15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975800" cy="27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Traditional reports and tables are ineffective for understanding complex safety data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Industrial accident datasets are large, categorical, and contain free-text descriptions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A dynamic, interactive dashboard can improve risk analysis and decision-making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688"/>
              <a:buNone/>
            </a:pPr>
            <a:endParaRPr sz="20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200"/>
              </a:spcBef>
              <a:spcAft>
                <a:spcPts val="0"/>
              </a:spcAft>
              <a:buSzPts val="688"/>
              <a:buNone/>
            </a:pPr>
            <a:endParaRPr sz="2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endParaRPr sz="2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6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Dataset overview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6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975800" cy="27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zh-CN" sz="2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Source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 Kaggle – Industrial Safety and Health Analytics Database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zh-CN" sz="2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Volume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 Around 36,000 accident records from 12 plants in 3 countries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zh-CN" sz="2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Fields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algn="l" rtl="0"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AutoNum type="arabicPeriod"/>
            </a:pP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Timestamps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AutoNum type="arabicPeriod"/>
            </a:pP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Categorical attributes (industry, country, accident level, role)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Calibri"/>
              <a:buAutoNum type="arabicPeriod"/>
            </a:pP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Free-text descriptions (used for word cloud)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SzPts val="688"/>
              <a:buNone/>
            </a:pPr>
            <a:endParaRPr sz="2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Techniques Used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7"/>
          <p:cNvSpPr txBox="1">
            <a:spLocks noGrp="1"/>
          </p:cNvSpPr>
          <p:nvPr>
            <p:ph type="body" idx="1"/>
          </p:nvPr>
        </p:nvSpPr>
        <p:spPr>
          <a:xfrm>
            <a:off x="729450" y="2078875"/>
            <a:ext cx="7975800" cy="27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Plotly Dash for dashboard UI &amp; layout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WordCloud for text mining visualization and NLP on free-text descriptions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PySpark SQL for data transformation and filtering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Decision Tree for monthly accident prediction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SzPts val="688"/>
              <a:buNone/>
            </a:pPr>
            <a:endParaRPr sz="2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8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Time Complexity Estimation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18"/>
          <p:cNvSpPr txBox="1">
            <a:spLocks noGrp="1"/>
          </p:cNvSpPr>
          <p:nvPr>
            <p:ph type="body" idx="1"/>
          </p:nvPr>
        </p:nvSpPr>
        <p:spPr>
          <a:xfrm>
            <a:off x="729450" y="1953425"/>
            <a:ext cx="7975800" cy="27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Preprocessing: O(n)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WordCloud generation: O(n * m) (n = records, m = avg word count)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Decision Tree Training: O(n log n)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Pandas DataFrame (in Dash)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PySpark DataFrame (initial filtering)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Dictionaries / lists (for plotting)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endParaRPr sz="2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SzPts val="688"/>
              <a:buNone/>
            </a:pPr>
            <a:endParaRPr sz="2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19" title="project timeline.png"/>
          <p:cNvPicPr preferRelativeResize="0"/>
          <p:nvPr/>
        </p:nvPicPr>
        <p:blipFill rotWithShape="1">
          <a:blip r:embed="rId3">
            <a:alphaModFix/>
          </a:blip>
          <a:srcRect r="970" b="1195"/>
          <a:stretch/>
        </p:blipFill>
        <p:spPr>
          <a:xfrm>
            <a:off x="1672075" y="1141125"/>
            <a:ext cx="6144469" cy="3387825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19"/>
          <p:cNvSpPr txBox="1">
            <a:spLocks noGrp="1"/>
          </p:cNvSpPr>
          <p:nvPr>
            <p:ph type="title"/>
          </p:nvPr>
        </p:nvSpPr>
        <p:spPr>
          <a:xfrm>
            <a:off x="729450" y="5898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Project Timeline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9"/>
          <p:cNvSpPr txBox="1">
            <a:spLocks noGrp="1"/>
          </p:cNvSpPr>
          <p:nvPr>
            <p:ph type="body" idx="1"/>
          </p:nvPr>
        </p:nvSpPr>
        <p:spPr>
          <a:xfrm>
            <a:off x="1359863" y="4583625"/>
            <a:ext cx="6768900" cy="469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Break down to weekly  tasks (About 4 hours / week)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SzPts val="688"/>
              <a:buNone/>
            </a:pP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cxnSp>
        <p:nvCxnSpPr>
          <p:cNvPr id="126" name="Google Shape;126;p19"/>
          <p:cNvCxnSpPr/>
          <p:nvPr/>
        </p:nvCxnSpPr>
        <p:spPr>
          <a:xfrm>
            <a:off x="2074034" y="1970903"/>
            <a:ext cx="5486100" cy="0"/>
          </a:xfrm>
          <a:prstGeom prst="straightConnector1">
            <a:avLst/>
          </a:prstGeom>
          <a:noFill/>
          <a:ln w="10075" cap="flat" cmpd="sng">
            <a:solidFill>
              <a:srgbClr val="EB560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7" name="Google Shape;127;p19"/>
          <p:cNvCxnSpPr/>
          <p:nvPr/>
        </p:nvCxnSpPr>
        <p:spPr>
          <a:xfrm>
            <a:off x="2065140" y="2717647"/>
            <a:ext cx="5495100" cy="0"/>
          </a:xfrm>
          <a:prstGeom prst="straightConnector1">
            <a:avLst/>
          </a:prstGeom>
          <a:noFill/>
          <a:ln w="10075" cap="flat" cmpd="sng">
            <a:solidFill>
              <a:srgbClr val="EB560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28" name="Google Shape;128;p19"/>
          <p:cNvCxnSpPr/>
          <p:nvPr/>
        </p:nvCxnSpPr>
        <p:spPr>
          <a:xfrm>
            <a:off x="2065140" y="3464392"/>
            <a:ext cx="5495100" cy="0"/>
          </a:xfrm>
          <a:prstGeom prst="straightConnector1">
            <a:avLst/>
          </a:prstGeom>
          <a:noFill/>
          <a:ln w="10075" cap="flat" cmpd="sng">
            <a:solidFill>
              <a:srgbClr val="EB560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0"/>
          <p:cNvSpPr txBox="1">
            <a:spLocks noGrp="1"/>
          </p:cNvSpPr>
          <p:nvPr>
            <p:ph type="title"/>
          </p:nvPr>
        </p:nvSpPr>
        <p:spPr>
          <a:xfrm>
            <a:off x="729450" y="5898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Analysis and Results - Dashboard Overview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20" title="smartgrid-dashboar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570250" y="1342963"/>
            <a:ext cx="2174440" cy="3366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20" title="industrialsafety-dashboard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03300" y="1342963"/>
            <a:ext cx="2491648" cy="3366026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20"/>
          <p:cNvSpPr txBox="1"/>
          <p:nvPr/>
        </p:nvSpPr>
        <p:spPr>
          <a:xfrm>
            <a:off x="3442950" y="47090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Calibri"/>
                <a:ea typeface="Calibri"/>
                <a:cs typeface="Calibri"/>
                <a:sym typeface="Calibri"/>
              </a:rPr>
              <a:t>"Smart-Grid" Dashboard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20"/>
          <p:cNvSpPr txBox="1"/>
          <p:nvPr/>
        </p:nvSpPr>
        <p:spPr>
          <a:xfrm>
            <a:off x="6036925" y="4709000"/>
            <a:ext cx="30000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1800">
                <a:latin typeface="Calibri"/>
                <a:ea typeface="Calibri"/>
                <a:cs typeface="Calibri"/>
                <a:sym typeface="Calibri"/>
              </a:rPr>
              <a:t>"Industrial-Safety" Dashboard</a:t>
            </a:r>
            <a:endParaRPr sz="1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20"/>
          <p:cNvSpPr txBox="1"/>
          <p:nvPr/>
        </p:nvSpPr>
        <p:spPr>
          <a:xfrm>
            <a:off x="494250" y="1214900"/>
            <a:ext cx="3111600" cy="395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 b="1">
                <a:latin typeface="Calibri"/>
                <a:ea typeface="Calibri"/>
                <a:cs typeface="Calibri"/>
                <a:sym typeface="Calibri"/>
              </a:rPr>
              <a:t>Both:</a:t>
            </a:r>
            <a:endParaRPr sz="2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latin typeface="Calibri"/>
                <a:ea typeface="Calibri"/>
                <a:cs typeface="Calibri"/>
                <a:sym typeface="Calibri"/>
              </a:rPr>
              <a:t>• Year / Month / Day dropdown filters</a:t>
            </a:r>
            <a:endParaRPr sz="2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latin typeface="Calibri"/>
                <a:ea typeface="Calibri"/>
                <a:cs typeface="Calibri"/>
                <a:sym typeface="Calibri"/>
              </a:rPr>
              <a:t>• Original data table on the bottom</a:t>
            </a:r>
            <a:endParaRPr sz="2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 b="1">
                <a:latin typeface="Calibri"/>
                <a:ea typeface="Calibri"/>
                <a:cs typeface="Calibri"/>
                <a:sym typeface="Calibri"/>
              </a:rPr>
              <a:t>“Smart-Grid”: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latin typeface="Calibri"/>
                <a:ea typeface="Calibri"/>
                <a:cs typeface="Calibri"/>
                <a:sym typeface="Calibri"/>
              </a:rPr>
              <a:t>• Line graphs to show temporal trends</a:t>
            </a:r>
            <a:endParaRPr sz="2000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 b="1">
                <a:latin typeface="Calibri"/>
                <a:ea typeface="Calibri"/>
                <a:cs typeface="Calibri"/>
                <a:sym typeface="Calibri"/>
              </a:rPr>
              <a:t>"Industrial-Safety":</a:t>
            </a:r>
            <a:endParaRPr sz="2000" b="1"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latin typeface="Calibri"/>
                <a:ea typeface="Calibri"/>
                <a:cs typeface="Calibri"/>
                <a:sym typeface="Calibri"/>
              </a:rPr>
              <a:t>• Pie charts to show percentage distribution</a:t>
            </a:r>
            <a:endParaRPr sz="20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1"/>
          <p:cNvSpPr txBox="1">
            <a:spLocks noGrp="1"/>
          </p:cNvSpPr>
          <p:nvPr>
            <p:ph type="title"/>
          </p:nvPr>
        </p:nvSpPr>
        <p:spPr>
          <a:xfrm>
            <a:off x="729450" y="5898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Analysis and Results - Accident Forecasting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21"/>
          <p:cNvSpPr txBox="1">
            <a:spLocks noGrp="1"/>
          </p:cNvSpPr>
          <p:nvPr>
            <p:ph type="body" idx="1"/>
          </p:nvPr>
        </p:nvSpPr>
        <p:spPr>
          <a:xfrm>
            <a:off x="486500" y="1400575"/>
            <a:ext cx="3273300" cy="3667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Forecasts monthly accident counts using historical data. 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lang="zh-CN" sz="2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Linear Regression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provides a clear baseline.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</a:t>
            </a:r>
            <a:r>
              <a:rPr lang="zh-CN" sz="2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Decision Tree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can capture non-linear trends better.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5" name="Google Shape;145;p21" title="Accident_Forecasting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02650" y="1400575"/>
            <a:ext cx="4924975" cy="2029634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02650" y="3885150"/>
            <a:ext cx="4924975" cy="840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>
            <a:spLocks noGrp="1"/>
          </p:cNvSpPr>
          <p:nvPr>
            <p:ph type="title"/>
          </p:nvPr>
        </p:nvSpPr>
        <p:spPr>
          <a:xfrm>
            <a:off x="729450" y="5479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Discussion (1)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22"/>
          <p:cNvSpPr txBox="1">
            <a:spLocks noGrp="1"/>
          </p:cNvSpPr>
          <p:nvPr>
            <p:ph type="body" idx="1"/>
          </p:nvPr>
        </p:nvSpPr>
        <p:spPr>
          <a:xfrm>
            <a:off x="729450" y="1350075"/>
            <a:ext cx="7975800" cy="36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zh-CN" sz="2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Implications of Findings:</a:t>
            </a:r>
            <a:endParaRPr sz="20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Interactive dashboards effectively communicate complex, multi-dimensional insights from both datasets.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Explore features and categorical/textual visualizations enhance user understanding and decision-making.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Word cloud analysis highlights recurring risk factors, offering actionable input for safety training initiatives.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Forecasting results suggest even simple models can support trend-aware, proactive planning.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SzPts val="688"/>
              <a:buNone/>
            </a:pP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>
            <a:spLocks noGrp="1"/>
          </p:cNvSpPr>
          <p:nvPr>
            <p:ph type="title"/>
          </p:nvPr>
        </p:nvSpPr>
        <p:spPr>
          <a:xfrm>
            <a:off x="729450" y="5479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Discussion (2)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23"/>
          <p:cNvSpPr txBox="1">
            <a:spLocks noGrp="1"/>
          </p:cNvSpPr>
          <p:nvPr>
            <p:ph type="body" idx="1"/>
          </p:nvPr>
        </p:nvSpPr>
        <p:spPr>
          <a:xfrm>
            <a:off x="729450" y="1350075"/>
            <a:ext cx="7975800" cy="36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zh-CN" sz="2000" b="1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Project Limitations:</a:t>
            </a:r>
            <a:endParaRPr sz="2000" b="1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The industrial safety dataset lacks sensor-based features, limiting the performance of predictive models.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Smart grid dashboard is built on static data; real-time streaming is not implemented.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lnSpc>
                <a:spcPct val="100000"/>
              </a:lnSpc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Dashboard UI is optimized for desktops; mobile responsiveness remains an area for enhancement.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24"/>
          <p:cNvSpPr txBox="1">
            <a:spLocks noGrp="1"/>
          </p:cNvSpPr>
          <p:nvPr>
            <p:ph type="title"/>
          </p:nvPr>
        </p:nvSpPr>
        <p:spPr>
          <a:xfrm>
            <a:off x="729450" y="573075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24"/>
          <p:cNvSpPr txBox="1">
            <a:spLocks noGrp="1"/>
          </p:cNvSpPr>
          <p:nvPr>
            <p:ph type="body" idx="1"/>
          </p:nvPr>
        </p:nvSpPr>
        <p:spPr>
          <a:xfrm>
            <a:off x="729450" y="1475750"/>
            <a:ext cx="7688700" cy="27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Performed thorough data preprocessing to ensure data quality, consistency, and readiness.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8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Developed a functional, interactive industrial data visualization dashboard.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Enabled exploration of grid and accident records by date and cause.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• Framework can scale to real-time industrial monitoring.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SzPts val="688"/>
              <a:buNone/>
            </a:pP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25"/>
          <p:cNvSpPr txBox="1">
            <a:spLocks noGrp="1"/>
          </p:cNvSpPr>
          <p:nvPr>
            <p:ph type="title"/>
          </p:nvPr>
        </p:nvSpPr>
        <p:spPr>
          <a:xfrm>
            <a:off x="729450" y="564725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Future Work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5"/>
          <p:cNvSpPr txBox="1">
            <a:spLocks noGrp="1"/>
          </p:cNvSpPr>
          <p:nvPr>
            <p:ph type="body" idx="1"/>
          </p:nvPr>
        </p:nvSpPr>
        <p:spPr>
          <a:xfrm>
            <a:off x="729450" y="1567875"/>
            <a:ext cx="5763600" cy="274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Add real-time data streaming or service integration 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  (e.g., scipy.signal, WebSocket, Kafka).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457200" algn="l" rtl="0">
              <a:spcBef>
                <a:spcPts val="500"/>
              </a:spcBef>
              <a:spcAft>
                <a:spcPts val="0"/>
              </a:spcAft>
              <a:buNone/>
            </a:pP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Deploy app via cloud (Heroku, AWS, etc.).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20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• </a:t>
            </a:r>
            <a:r>
              <a:rPr lang="zh-CN" sz="2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Incorporate extensive machine learning for KPI and risk prediction.</a:t>
            </a:r>
            <a:endParaRPr sz="2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SzPts val="688"/>
              <a:buNone/>
            </a:pPr>
            <a:endParaRPr sz="20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1" name="Google Shape;17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52325" y="1864300"/>
            <a:ext cx="1104100" cy="478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606675" y="1890017"/>
            <a:ext cx="1104099" cy="427019"/>
          </a:xfrm>
          <a:prstGeom prst="rect">
            <a:avLst/>
          </a:prstGeom>
          <a:noFill/>
          <a:ln>
            <a:noFill/>
          </a:ln>
        </p:spPr>
      </p:pic>
      <p:pic>
        <p:nvPicPr>
          <p:cNvPr id="173" name="Google Shape;173;p2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493038" y="2638762"/>
            <a:ext cx="756526" cy="898374"/>
          </a:xfrm>
          <a:prstGeom prst="rect">
            <a:avLst/>
          </a:prstGeom>
          <a:noFill/>
          <a:ln>
            <a:noFill/>
          </a:ln>
        </p:spPr>
      </p:pic>
      <p:pic>
        <p:nvPicPr>
          <p:cNvPr id="174" name="Google Shape;174;p2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7797800" y="2923524"/>
            <a:ext cx="620350" cy="372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5" name="Google Shape;175;p25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604500" y="3833125"/>
            <a:ext cx="533626" cy="5336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6"/>
          <p:cNvSpPr txBox="1">
            <a:spLocks noGrp="1"/>
          </p:cNvSpPr>
          <p:nvPr>
            <p:ph type="title"/>
          </p:nvPr>
        </p:nvSpPr>
        <p:spPr>
          <a:xfrm>
            <a:off x="729450" y="5898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References (1)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26"/>
          <p:cNvSpPr txBox="1">
            <a:spLocks noGrp="1"/>
          </p:cNvSpPr>
          <p:nvPr>
            <p:ph type="body" idx="1"/>
          </p:nvPr>
        </p:nvSpPr>
        <p:spPr>
          <a:xfrm>
            <a:off x="725850" y="1135633"/>
            <a:ext cx="8134200" cy="35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https://www.finereport.com/en/data-visualization/data-visualization-dashboard.html  </a:t>
            </a:r>
            <a:endParaRPr sz="18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https://envelio.com/smart-grid  </a:t>
            </a:r>
            <a:endParaRPr sz="18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https://btsconsultant.com/courseDetails/1546  </a:t>
            </a:r>
            <a:endParaRPr sz="18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Ma, Ruofei, et al. "Smart grid communication: Its challenges and opportunities." IEEE transactions on Smart Grid 4.1 (2013): 36-46.  </a:t>
            </a:r>
            <a:endParaRPr sz="18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Fang, Xi, et al. "Smart grid—The new and improved power grid: A survey." IEEE communications surveys &amp; tutorials 14.4 (2011): 944-980.  </a:t>
            </a:r>
            <a:endParaRPr sz="1800" dirty="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Rathor, Ketan, et al. "A Detailed View on Industrial Safety and Health Analytics using Machine Learning Hybrid Ensemble Techniques." 2022 International Conference on Edge Computing and Applications (ICECAA). IEEE, 2022.  </a:t>
            </a:r>
            <a:endParaRPr sz="18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7"/>
          <p:cNvSpPr txBox="1">
            <a:spLocks noGrp="1"/>
          </p:cNvSpPr>
          <p:nvPr>
            <p:ph type="title"/>
          </p:nvPr>
        </p:nvSpPr>
        <p:spPr>
          <a:xfrm>
            <a:off x="729450" y="5898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References (2)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27"/>
          <p:cNvSpPr txBox="1">
            <a:spLocks noGrp="1"/>
          </p:cNvSpPr>
          <p:nvPr>
            <p:ph type="body" idx="1"/>
          </p:nvPr>
        </p:nvSpPr>
        <p:spPr>
          <a:xfrm>
            <a:off x="729450" y="1308650"/>
            <a:ext cx="8134200" cy="35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Few, Stephen. "Information dashboard design." (2006).  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Tokola, Henri, et al. "Designing manufacturing dashboards on the basis of a Key Performance Indicator survey." Procedia Cirp 57 (2016): 619-624.  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Gungor, Vehbi C., and Frank C. Lambert. "A survey on communication networks for electric system automation." Computer Networks 50.7 (2006): 877-897.  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Fadlullah, Zubair Md, et al. "Toward intelligent machine-to-machine communications in smart grid." IEEE Communications Magazine 49.4 (2011): 60-65.  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Zhong, Ray Y., et al. "Intelligent manufacturing in the context of industry 4.0: a review." Engineering 3.5 (2017): 616-630.  </a:t>
            </a: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8"/>
          <p:cNvSpPr txBox="1">
            <a:spLocks noGrp="1"/>
          </p:cNvSpPr>
          <p:nvPr>
            <p:ph type="title"/>
          </p:nvPr>
        </p:nvSpPr>
        <p:spPr>
          <a:xfrm>
            <a:off x="729450" y="589850"/>
            <a:ext cx="7688700" cy="71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 b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References (3)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8"/>
          <p:cNvSpPr txBox="1">
            <a:spLocks noGrp="1"/>
          </p:cNvSpPr>
          <p:nvPr>
            <p:ph type="body" idx="1"/>
          </p:nvPr>
        </p:nvSpPr>
        <p:spPr>
          <a:xfrm>
            <a:off x="729450" y="1308650"/>
            <a:ext cx="8134200" cy="3514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Wang, Jinjiang, et al. "Deep learning for smart manufacturing: Methods and applications." Journal of manufacturing systems 48 (2018): 144-156.  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https://www.kaggle.com/datasets/ziya07/smart-grid-real-time-load-monitoring-dataset/data  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r>
              <a:rPr lang="zh-CN" sz="18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https://www.kaggle.com/datasets/ihmstefanini/industrial-safety-and-health-analytics-database  </a:t>
            </a: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500"/>
              </a:spcBef>
              <a:spcAft>
                <a:spcPts val="0"/>
              </a:spcAft>
              <a:buNone/>
            </a:pPr>
            <a:endParaRPr sz="18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lvl="0" indent="0" algn="l" rtl="0">
              <a:spcBef>
                <a:spcPts val="0"/>
              </a:spcBef>
              <a:spcAft>
                <a:spcPts val="1200"/>
              </a:spcAft>
              <a:buSzPts val="688"/>
              <a:buNone/>
            </a:pPr>
            <a:endParaRPr sz="18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9"/>
          <p:cNvSpPr txBox="1">
            <a:spLocks noGrp="1"/>
          </p:cNvSpPr>
          <p:nvPr>
            <p:ph type="title"/>
          </p:nvPr>
        </p:nvSpPr>
        <p:spPr>
          <a:xfrm>
            <a:off x="729450" y="1318650"/>
            <a:ext cx="7801200" cy="2570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zh-CN" sz="2800">
                <a:latin typeface="Calibri"/>
                <a:ea typeface="Calibri"/>
                <a:cs typeface="Calibri"/>
                <a:sym typeface="Calibri"/>
              </a:rPr>
              <a:t>Thank you!</a:t>
            </a:r>
            <a:endParaRPr sz="2800"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treamline">
  <a:themeElements>
    <a:clrScheme name="Streamline">
      <a:dk1>
        <a:srgbClr val="1A9988"/>
      </a:dk1>
      <a:lt1>
        <a:srgbClr val="FFFFFF"/>
      </a:lt1>
      <a:dk2>
        <a:srgbClr val="1A1A1A"/>
      </a:dk2>
      <a:lt2>
        <a:srgbClr val="E9EDEE"/>
      </a:lt2>
      <a:accent1>
        <a:srgbClr val="595959"/>
      </a:accent1>
      <a:accent2>
        <a:srgbClr val="6AA4C8"/>
      </a:accent2>
      <a:accent3>
        <a:srgbClr val="EB5600"/>
      </a:accent3>
      <a:accent4>
        <a:srgbClr val="A2FFE8"/>
      </a:accent4>
      <a:accent5>
        <a:srgbClr val="1C3678"/>
      </a:accent5>
      <a:accent6>
        <a:srgbClr val="FFB8A2"/>
      </a:accent6>
      <a:hlink>
        <a:srgbClr val="1C3678"/>
      </a:hlink>
      <a:folHlink>
        <a:srgbClr val="1C367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976</Words>
  <Application>Microsoft Macintosh PowerPoint</Application>
  <PresentationFormat>On-screen Show (16:9)</PresentationFormat>
  <Paragraphs>91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Arial</vt:lpstr>
      <vt:lpstr>Times New Roman</vt:lpstr>
      <vt:lpstr>Raleway</vt:lpstr>
      <vt:lpstr>Calibri</vt:lpstr>
      <vt:lpstr>Lato</vt:lpstr>
      <vt:lpstr>Streamline</vt:lpstr>
      <vt:lpstr>Data Visualization Dashboard for Manufacturing Plant and Industrial Safety</vt:lpstr>
      <vt:lpstr>Introduction</vt:lpstr>
      <vt:lpstr>Problem &amp; Motivation</vt:lpstr>
      <vt:lpstr>Dataset overview</vt:lpstr>
      <vt:lpstr>Techniques Used</vt:lpstr>
      <vt:lpstr>Time Complexity Estimation</vt:lpstr>
      <vt:lpstr>Project Timeline</vt:lpstr>
      <vt:lpstr>Analysis and Results - Dashboard Overview</vt:lpstr>
      <vt:lpstr>Analysis and Results - Accident Forecasting</vt:lpstr>
      <vt:lpstr>Discussion (1)</vt:lpstr>
      <vt:lpstr>Discussion (2)</vt:lpstr>
      <vt:lpstr>Conclusion</vt:lpstr>
      <vt:lpstr>Future Work</vt:lpstr>
      <vt:lpstr>References (1)</vt:lpstr>
      <vt:lpstr>References (2)</vt:lpstr>
      <vt:lpstr>References (3)</vt:lpstr>
      <vt:lpstr>Thank you!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Qingyuan Hu</cp:lastModifiedBy>
  <cp:revision>1</cp:revision>
  <dcterms:modified xsi:type="dcterms:W3CDTF">2025-08-04T22:57:07Z</dcterms:modified>
</cp:coreProperties>
</file>